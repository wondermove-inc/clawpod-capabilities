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표지. 프로젝트명·고객사·수행사·문서 ID·버전·작성일·기준일·보안 등급·배포 범위를 입력한다. 승인 상태는 승인자 서명 전까지 '미승인'을 유지한다. 사용안내.md §2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서명 칸은 실제 서명 전까지 '미서명'으로 둔다. 서명 이미지·실명 예시를 미리 넣지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개정 시 행을 추가한다. 승인 상태는 실제 승인 기록이 있을 때만 변경한다.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건수는 실제 집계 후 입력한다. 0을 미리 채우지 않는다. 합계 열은 각 행의 등급별 합과 일치해야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중복 제거 기준을 먼저 합의·기재하고, 그룹 매핑 표의 포함 등록 ID 합계가 등록 발견사항 수와 맞는지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핵심 위험은 3~5개만 기재한다. 사용하지 않는 선택 행(4, 5)은 삭제한다. 권고 기한은 합의된 값만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승인/RoE ID와 버전을 대상 ID에 연결한다. 전체 대상은 부록 A. 계정은 권한 수준만 쓰고 자격증명은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승인·실제·미수행·제외 범위를 모두 채운다. 미수행·제외에는 사유를 쓴다. 해당 방식의 □를 ■로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도구는 정확한 버전까지 기재한다. 사용하지 않은 도구는 넣지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기준은 판·연도와 항목 ID까지 기재한다. 점검 한계는 이 슬라이드 한 곳에만 간결하게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주 평가 방식은 CVSS 또는 매트릭스 중 하나만 선택한다. 선택하지 않은 방식의 상세 슬라이드는 근거로만 남기거나 삭제한다.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점수 구간·매핑은 고객과 합의한 값만 쓴다. 템플릿에 임의 구간을 미리 넣지 않는다. 정보 등급은 CVSS 산정 제외.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매트릭스를 주 평가 방식으로 선택한 경우 축 정의와 칸별 등급을 합의 후 채운다.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우선순위 기한은 고객과 합의한 값만 쓴다. 긴급 심각도라도 보완 통제·노출도에 따라 우선순위가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행은 고유 취약점 수만큼 추가하고, 많으면 슬라이드를 나눈다. 같은 취약점 ID를 카드·계획·재점검·증거에 그대로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ID 접두어는 문서 전체에서 같은 형식을 유지한다. 번호 부여 규칙은 사용안내.md를 따른다.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카드에는 요약만 쓰고 상세 재현·요청/응답·스크린샷은 부록 C에 둔다. CVSS 칸은 주 평가 방식이 CVSS일 때만 입력하고, 매트릭스 방식이거나 정보 등급이면 미적용 사유를 쓴다. 산정 근거에는 적용한 방식의 핵심 근거(CVSS 메트릭 판단 또는 영향도·가능성 단계)를 한두 줄로 쓰고, 상세 근거는 부록 C 증거 상세의 '평가 산정 근거(상세)'에 증거 ID로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조치 상태와 재점검 상태를 한 칸에 섞지 않는다. '조치 제출'은 완료 집계에 넣지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재점검 결과에는 날짜·재점검자·증거 ID를 반드시 남긴다. 정상 동작 확인이 없으면 완료로 바꾸지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위험 수용은 승인자 서명 기록이 있을 때만 승인 상태를 바꾼다. 위험 수용 건수는 완료 건수와 따로 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승인·실제 수행·미수행·제외 대상을 모두 나열한다. 자격증명은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모든 점검 항목을 나열한다. 미수행·해당 없음 항목에는 사유를 쓰고 결과를 '양호'로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토큰·비밀번호·쿠키 원문이 남은 증거는 배포할 수 없다. 저장 위치·접근 권한·보존 기한을 모두 채운다.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증거 ID마다 이 슬라이드를 복제한다. 요청/응답은 마스킹 후 핵심 부분만 발췌하고 스크린샷은 민감 정보를 가린다.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상태·심각도·기한 등 변경이 생길 때마다 행을 추가하고 근거 증거 ID를 남긴다.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[작성 지침 · 고객 배포 전 삭제] 용어 정의는 보고서(DOCX) 부록 E와 같게 유지한다.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-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ver-motif"/>
          <p:cNvSpPr/>
          <p:nvPr/>
        </p:nvSpPr>
        <p:spPr>
          <a:xfrm>
            <a:off x="731520" y="1051560"/>
            <a:ext cx="109728" cy="109728"/>
          </a:xfrm>
          <a:prstGeom prst="rect">
            <a:avLst/>
          </a:prstGeom>
          <a:solidFill>
            <a:srgbClr val="2BB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over-kicker"/>
          <p:cNvSpPr txBox="1"/>
          <p:nvPr/>
        </p:nvSpPr>
        <p:spPr>
          <a:xfrm>
            <a:off x="932688" y="96012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lang="ko-KR" altLang="en-US">
                <a:solidFill>
                  <a:srgbClr val="9FD3D5"/>
                </a:solidFill>
                <a:latin typeface="Noto Sans CJK KR"/>
                <a:ea typeface="Noto Sans CJK KR"/>
                <a:cs typeface="Noto Sans CJK KR"/>
              </a:rPr>
              <a:t>VULNERABILITY ASSESSMENT REPORT</a:t>
            </a:r>
          </a:p>
        </p:txBody>
      </p:sp>
      <p:sp>
        <p:nvSpPr>
          <p:cNvPr id="5" name="cover-title"/>
          <p:cNvSpPr txBox="1"/>
          <p:nvPr/>
        </p:nvSpPr>
        <p:spPr>
          <a:xfrm>
            <a:off x="731520" y="1463040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600" b="1" lang="ko-KR" altLang="en-US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취약점 진단 결과 보고</a:t>
            </a:r>
          </a:p>
        </p:txBody>
      </p:sp>
      <p:sp>
        <p:nvSpPr>
          <p:cNvPr id="6" name="cover-project"/>
          <p:cNvSpPr txBox="1"/>
          <p:nvPr/>
        </p:nvSpPr>
        <p:spPr>
          <a:xfrm>
            <a:off x="731520" y="2331720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 lang="ko-KR" altLang="en-US">
                <a:solidFill>
                  <a:srgbClr val="C8D6E5"/>
                </a:solidFill>
                <a:latin typeface="Noto Sans CJK KR"/>
                <a:ea typeface="Noto Sans CJK KR"/>
                <a:cs typeface="Noto Sans CJK KR"/>
              </a:rPr>
              <a:t>프로젝트명  </a:t>
            </a:r>
            <a:r>
              <a:rPr sz="1500" b="1" lang="ko-KR" altLang="en-US">
                <a:solidFill>
                  <a:srgbClr val="9FD3D5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cover-tagline"/>
          <p:cNvSpPr txBox="1"/>
          <p:nvPr/>
        </p:nvSpPr>
        <p:spPr>
          <a:xfrm>
            <a:off x="731520" y="2971800"/>
            <a:ext cx="5120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lang="ko-KR" altLang="en-US">
                <a:solidFill>
                  <a:srgbClr val="C8D6E5"/>
                </a:solidFill>
                <a:latin typeface="Noto Sans CJK KR"/>
                <a:ea typeface="Noto Sans CJK KR"/>
                <a:cs typeface="Noto Sans CJK KR"/>
              </a:rPr>
              <a:t>기술적 심각도와 조치 우선순위를 분리하고,</a:t>
            </a:r>
          </a:p>
          <a:p>
            <a:pPr>
              <a:spcAft>
                <a:spcPts val="0"/>
              </a:spcAft>
            </a:pPr>
            <a:r>
              <a:rPr sz="1300" b="0" lang="ko-KR" altLang="en-US">
                <a:solidFill>
                  <a:srgbClr val="C8D6E5"/>
                </a:solidFill>
                <a:latin typeface="Noto Sans CJK KR"/>
                <a:ea typeface="Noto Sans CJK KR"/>
                <a:cs typeface="Noto Sans CJK KR"/>
              </a:rPr>
              <a:t>재점검으로 확인된 조치만 완료로 집계한다.</a:t>
            </a:r>
          </a:p>
        </p:txBody>
      </p:sp>
      <p:graphicFrame>
        <p:nvGraphicFramePr>
          <p:cNvPr id="8" name="cover-fields"/>
          <p:cNvGraphicFramePr>
            <a:graphicFrameLocks noGrp="1"/>
          </p:cNvGraphicFramePr>
          <p:nvPr/>
        </p:nvGraphicFramePr>
        <p:xfrm>
          <a:off x="6720840" y="914400"/>
          <a:ext cx="4800600" cy="38679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3200400"/>
              </a:tblGrid>
              <a:tr h="4297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고객사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수행사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문서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문서 버전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작성일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기준일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보안 등급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배포 범위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 상태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미승인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AFC3D6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9FD3D5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AFC3D6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9FD3D5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10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AFC3D6"/>
                </a:solidFill>
                <a:latin typeface="Noto Sans CJK KR"/>
                <a:ea typeface="Noto Sans CJK KR"/>
              </a:rPr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1. 문서 통제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작성·검토·승인 서명과 배포 대상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2</a:t>
            </a:fld>
          </a:p>
        </p:txBody>
      </p:sp>
      <p:sp>
        <p:nvSpPr>
          <p:cNvPr id="8" name="author-note-bg"/>
          <p:cNvSpPr/>
          <p:nvPr/>
        </p:nvSpPr>
        <p:spPr>
          <a:xfrm>
            <a:off x="548640" y="1417320"/>
            <a:ext cx="11094415" cy="358902"/>
          </a:xfrm>
          <a:prstGeom prst="rect">
            <a:avLst/>
          </a:prstGeom>
          <a:solidFill>
            <a:srgbClr val="FFF4E0"/>
          </a:solidFill>
          <a:ln w="9525">
            <a:solidFill>
              <a:srgbClr val="B26A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author-note"/>
          <p:cNvSpPr txBox="1"/>
          <p:nvPr/>
        </p:nvSpPr>
        <p:spPr>
          <a:xfrm>
            <a:off x="685800" y="1508760"/>
            <a:ext cx="10820095" cy="2125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 lang="ko-KR" altLang="en-US">
                <a:solidFill>
                  <a:srgbClr val="7A4A00"/>
                </a:solidFill>
                <a:latin typeface="Noto Sans CJK KR"/>
                <a:ea typeface="Noto Sans CJK KR"/>
                <a:cs typeface="Noto Sans CJK KR"/>
              </a:rPr>
              <a:t>작성 지침 · 고객 배포 전 삭제 — 이 문서는 공란 표준 템플릿이다. 작성 방법은 별도 사용안내.md를 따르고, 이 색의 작성 지침 상자는 고객 배포 전에 모두 삭제한다.</a:t>
            </a:r>
          </a:p>
        </p:txBody>
      </p:sp>
      <p:sp>
        <p:nvSpPr>
          <p:cNvPr id="10" name="subhead"/>
          <p:cNvSpPr txBox="1"/>
          <p:nvPr/>
        </p:nvSpPr>
        <p:spPr>
          <a:xfrm>
            <a:off x="548640" y="197739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작성·검토·승인 서명</a:t>
            </a:r>
          </a:p>
        </p:txBody>
      </p:sp>
      <p:graphicFrame>
        <p:nvGraphicFramePr>
          <p:cNvPr id="11" name="sign"/>
          <p:cNvGraphicFramePr>
            <a:graphicFrameLocks noGrp="1"/>
          </p:cNvGraphicFramePr>
          <p:nvPr/>
        </p:nvGraphicFramePr>
        <p:xfrm>
          <a:off x="548640" y="2361438"/>
          <a:ext cx="11094415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2377440"/>
                <a:gridCol w="2651760"/>
                <a:gridCol w="2377440"/>
                <a:gridCol w="1950415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역할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성명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소속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서명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서명일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작성자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미서명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검토자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미서명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승인자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미서명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ubhead"/>
          <p:cNvSpPr txBox="1"/>
          <p:nvPr/>
        </p:nvSpPr>
        <p:spPr>
          <a:xfrm>
            <a:off x="548640" y="435483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배포 대상</a:t>
            </a:r>
          </a:p>
        </p:txBody>
      </p:sp>
      <p:graphicFrame>
        <p:nvGraphicFramePr>
          <p:cNvPr id="13" name="distribution"/>
          <p:cNvGraphicFramePr>
            <a:graphicFrameLocks noGrp="1"/>
          </p:cNvGraphicFramePr>
          <p:nvPr/>
        </p:nvGraphicFramePr>
        <p:xfrm>
          <a:off x="548640" y="4738878"/>
          <a:ext cx="11094415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/>
                <a:gridCol w="2926080"/>
                <a:gridCol w="2651760"/>
                <a:gridCol w="2590495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배포 대상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소속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배포 형태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비고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1. 문서 통제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개정 이력과 승인 상태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3</a:t>
            </a:fld>
          </a:p>
        </p:txBody>
      </p:sp>
      <p:sp>
        <p:nvSpPr>
          <p:cNvPr id="8" name="subhead"/>
          <p:cNvSpPr txBox="1"/>
          <p:nvPr/>
        </p:nvSpPr>
        <p:spPr>
          <a:xfrm>
            <a:off x="548640" y="141732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개정 이력</a:t>
            </a:r>
          </a:p>
        </p:txBody>
      </p:sp>
      <p:graphicFrame>
        <p:nvGraphicFramePr>
          <p:cNvPr id="9" name="revision"/>
          <p:cNvGraphicFramePr>
            <a:graphicFrameLocks noGrp="1"/>
          </p:cNvGraphicFramePr>
          <p:nvPr/>
        </p:nvGraphicFramePr>
        <p:xfrm>
          <a:off x="548640" y="1801368"/>
          <a:ext cx="11094415" cy="1280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/>
                <a:gridCol w="1828800"/>
                <a:gridCol w="4510735"/>
                <a:gridCol w="1828800"/>
                <a:gridCol w="1463040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버전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일자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변경 내용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작성자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 상태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미승인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미승인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principle-bg"/>
          <p:cNvSpPr/>
          <p:nvPr/>
        </p:nvSpPr>
        <p:spPr>
          <a:xfrm>
            <a:off x="548640" y="3447288"/>
            <a:ext cx="11094415" cy="447294"/>
          </a:xfrm>
          <a:prstGeom prst="rect">
            <a:avLst/>
          </a:prstGeom>
          <a:solidFill>
            <a:srgbClr val="E3F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rinciple-bar"/>
          <p:cNvSpPr/>
          <p:nvPr/>
        </p:nvSpPr>
        <p:spPr>
          <a:xfrm>
            <a:off x="548640" y="3447288"/>
            <a:ext cx="64008" cy="447294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rinciple"/>
          <p:cNvSpPr txBox="1"/>
          <p:nvPr/>
        </p:nvSpPr>
        <p:spPr>
          <a:xfrm>
            <a:off x="777240" y="3566160"/>
            <a:ext cx="10728655" cy="2644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승인 상태는 승인자 서명 전까지 '미승인'으로 유지하며, 승인 기록 없이 승인으로 표기하지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2. 경영진 요약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점검 목적·기간·범위와 심각도별 발견 현황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4</a:t>
            </a:fld>
          </a:p>
        </p:txBody>
      </p:sp>
      <p:graphicFrame>
        <p:nvGraphicFramePr>
          <p:cNvPr id="8" name="exec-fields"/>
          <p:cNvGraphicFramePr>
            <a:graphicFrameLocks noGrp="1"/>
          </p:cNvGraphicFramePr>
          <p:nvPr/>
        </p:nvGraphicFramePr>
        <p:xfrm>
          <a:off x="548640" y="1417320"/>
          <a:ext cx="11094415" cy="1682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8899855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 목적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 기간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 범위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기준 시간대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ubhead"/>
          <p:cNvSpPr txBox="1"/>
          <p:nvPr/>
        </p:nvSpPr>
        <p:spPr>
          <a:xfrm>
            <a:off x="548640" y="339242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심각도별 발견 현황</a:t>
            </a:r>
          </a:p>
        </p:txBody>
      </p:sp>
      <p:graphicFrame>
        <p:nvGraphicFramePr>
          <p:cNvPr id="10" name="counts"/>
          <p:cNvGraphicFramePr>
            <a:graphicFrameLocks noGrp="1"/>
          </p:cNvGraphicFramePr>
          <p:nvPr/>
        </p:nvGraphicFramePr>
        <p:xfrm>
          <a:off x="548640" y="3776472"/>
          <a:ext cx="11094415" cy="12435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13455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긴급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정보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합계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등록 발견사항 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중복 제거 고유 취약점 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ule"/>
          <p:cNvSpPr txBox="1"/>
          <p:nvPr/>
        </p:nvSpPr>
        <p:spPr>
          <a:xfrm>
            <a:off x="548640" y="5184648"/>
            <a:ext cx="11094415" cy="229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등록 발견사항 수는 대상·경로·파라미터 단위로 기록한 모든 건이고, 중복 제거 고유 취약점 수는 중복 제거 기준에 따라 하나의 조치 단위로 묶은 건수이다. 두 값은 서로 대체하지 않는다.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2. 경영진 요약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등록 발견사항과 중복 제거 고유 취약점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5</a:t>
            </a:fld>
          </a:p>
        </p:txBody>
      </p:sp>
      <p:sp>
        <p:nvSpPr>
          <p:cNvPr id="8" name="stat-0"/>
          <p:cNvSpPr/>
          <p:nvPr/>
        </p:nvSpPr>
        <p:spPr>
          <a:xfrm>
            <a:off x="548640" y="1417320"/>
            <a:ext cx="5410047" cy="1188720"/>
          </a:xfrm>
          <a:prstGeom prst="rect">
            <a:avLst/>
          </a:prstGeom>
          <a:solidFill>
            <a:srgbClr val="F3F6F9"/>
          </a:solidFill>
          <a:ln w="9525">
            <a:solidFill>
              <a:srgbClr val="C9D3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stat-label-0"/>
          <p:cNvSpPr txBox="1"/>
          <p:nvPr/>
        </p:nvSpPr>
        <p:spPr>
          <a:xfrm>
            <a:off x="822959" y="1563624"/>
            <a:ext cx="367268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등록 발견사항 수</a:t>
            </a:r>
          </a:p>
        </p:txBody>
      </p:sp>
      <p:sp>
        <p:nvSpPr>
          <p:cNvPr id="10" name="stat-cap-0"/>
          <p:cNvSpPr txBox="1"/>
          <p:nvPr/>
        </p:nvSpPr>
        <p:spPr>
          <a:xfrm>
            <a:off x="822959" y="1965960"/>
            <a:ext cx="36726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대상·경로·파라미터 단위 전체 기록</a:t>
            </a:r>
          </a:p>
        </p:txBody>
      </p:sp>
      <p:sp>
        <p:nvSpPr>
          <p:cNvPr id="11" name="stat-value-0"/>
          <p:cNvSpPr txBox="1"/>
          <p:nvPr/>
        </p:nvSpPr>
        <p:spPr>
          <a:xfrm>
            <a:off x="4404207" y="1691640"/>
            <a:ext cx="1371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[건수]</a:t>
            </a:r>
          </a:p>
        </p:txBody>
      </p:sp>
      <p:sp>
        <p:nvSpPr>
          <p:cNvPr id="12" name="stat-1"/>
          <p:cNvSpPr/>
          <p:nvPr/>
        </p:nvSpPr>
        <p:spPr>
          <a:xfrm>
            <a:off x="6233007" y="1417320"/>
            <a:ext cx="5410047" cy="1188720"/>
          </a:xfrm>
          <a:prstGeom prst="rect">
            <a:avLst/>
          </a:prstGeom>
          <a:solidFill>
            <a:srgbClr val="F3F6F9"/>
          </a:solidFill>
          <a:ln w="9525">
            <a:solidFill>
              <a:srgbClr val="C9D3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stat-label-1"/>
          <p:cNvSpPr txBox="1"/>
          <p:nvPr/>
        </p:nvSpPr>
        <p:spPr>
          <a:xfrm>
            <a:off x="6507327" y="1563624"/>
            <a:ext cx="367268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중복 제거 고유 취약점 수</a:t>
            </a:r>
          </a:p>
        </p:txBody>
      </p:sp>
      <p:sp>
        <p:nvSpPr>
          <p:cNvPr id="14" name="stat-cap-1"/>
          <p:cNvSpPr txBox="1"/>
          <p:nvPr/>
        </p:nvSpPr>
        <p:spPr>
          <a:xfrm>
            <a:off x="6507327" y="1965960"/>
            <a:ext cx="36726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중복 제거 기준 적용 후 조치 단위</a:t>
            </a:r>
          </a:p>
        </p:txBody>
      </p:sp>
      <p:sp>
        <p:nvSpPr>
          <p:cNvPr id="15" name="stat-value-1"/>
          <p:cNvSpPr txBox="1"/>
          <p:nvPr/>
        </p:nvSpPr>
        <p:spPr>
          <a:xfrm>
            <a:off x="10088575" y="1691640"/>
            <a:ext cx="1371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[건수]</a:t>
            </a:r>
          </a:p>
        </p:txBody>
      </p:sp>
      <p:graphicFrame>
        <p:nvGraphicFramePr>
          <p:cNvPr id="16" name="dedup"/>
          <p:cNvGraphicFramePr>
            <a:graphicFrameLocks noGrp="1"/>
          </p:cNvGraphicFramePr>
          <p:nvPr/>
        </p:nvGraphicFramePr>
        <p:xfrm>
          <a:off x="548640" y="2880360"/>
          <a:ext cx="11094415" cy="841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8899855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중복 제거 기준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중복 그룹 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ubhead"/>
          <p:cNvSpPr txBox="1"/>
          <p:nvPr/>
        </p:nvSpPr>
        <p:spPr>
          <a:xfrm>
            <a:off x="548640" y="3995928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중복 그룹 매핑</a:t>
            </a:r>
          </a:p>
        </p:txBody>
      </p:sp>
      <p:graphicFrame>
        <p:nvGraphicFramePr>
          <p:cNvPr id="18" name="groups"/>
          <p:cNvGraphicFramePr>
            <a:graphicFrameLocks noGrp="1"/>
          </p:cNvGraphicFramePr>
          <p:nvPr/>
        </p:nvGraphicFramePr>
        <p:xfrm>
          <a:off x="548640" y="4379976"/>
          <a:ext cx="11094415" cy="1207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2377440"/>
                <a:gridCol w="3291840"/>
                <a:gridCol w="3230575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중복 그룹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대표 취약점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포함 등록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중복 판정 근거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F-[입력], 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F-[입력], 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2. 경영진 요약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핵심 위험과 우선 조치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6</a:t>
            </a:fld>
          </a:p>
        </p:txBody>
      </p:sp>
      <p:graphicFrame>
        <p:nvGraphicFramePr>
          <p:cNvPr id="8" name="key-risks"/>
          <p:cNvGraphicFramePr>
            <a:graphicFrameLocks noGrp="1"/>
          </p:cNvGraphicFramePr>
          <p:nvPr/>
        </p:nvGraphicFramePr>
        <p:xfrm>
          <a:off x="548640" y="1417320"/>
          <a:ext cx="11094415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43000"/>
                <a:gridCol w="2377440"/>
                <a:gridCol w="1554480"/>
                <a:gridCol w="2377440"/>
                <a:gridCol w="2194560"/>
                <a:gridCol w="1447495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No.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핵심 위험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관련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업무 영향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우선 조치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권고 기한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 (선택)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 (선택)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3. 점검 개요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승인·RoE와 점검 대상 매핑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7</a:t>
            </a:fld>
          </a:p>
        </p:txBody>
      </p:sp>
      <p:sp>
        <p:nvSpPr>
          <p:cNvPr id="8" name="subhead"/>
          <p:cNvSpPr txBox="1"/>
          <p:nvPr/>
        </p:nvSpPr>
        <p:spPr>
          <a:xfrm>
            <a:off x="548640" y="141732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승인 및 RoE</a:t>
            </a:r>
          </a:p>
        </p:txBody>
      </p:sp>
      <p:graphicFrame>
        <p:nvGraphicFramePr>
          <p:cNvPr id="9" name="roe"/>
          <p:cNvGraphicFramePr>
            <a:graphicFrameLocks noGrp="1"/>
          </p:cNvGraphicFramePr>
          <p:nvPr/>
        </p:nvGraphicFramePr>
        <p:xfrm>
          <a:off x="548640" y="1801368"/>
          <a:ext cx="11094415" cy="1207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1371600"/>
                <a:gridCol w="5150815"/>
                <a:gridCol w="2377440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승인/RoE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버전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 범위 요약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 대상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ubhead"/>
          <p:cNvSpPr txBox="1"/>
          <p:nvPr/>
        </p:nvSpPr>
        <p:spPr>
          <a:xfrm>
            <a:off x="548640" y="3282696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점검 대상</a:t>
            </a:r>
          </a:p>
        </p:txBody>
      </p:sp>
      <p:graphicFrame>
        <p:nvGraphicFramePr>
          <p:cNvPr id="11" name="targets"/>
          <p:cNvGraphicFramePr>
            <a:graphicFrameLocks noGrp="1"/>
          </p:cNvGraphicFramePr>
          <p:nvPr/>
        </p:nvGraphicFramePr>
        <p:xfrm>
          <a:off x="548640" y="3666744"/>
          <a:ext cx="11094415" cy="1207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/>
                <a:gridCol w="1828800"/>
                <a:gridCol w="2743200"/>
                <a:gridCol w="1463040"/>
                <a:gridCol w="2041855"/>
                <a:gridCol w="1554480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대상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자산명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IP / 도메인 / URL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앱 버전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 계정 권한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 RoE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ule"/>
          <p:cNvSpPr txBox="1"/>
          <p:nvPr/>
        </p:nvSpPr>
        <p:spPr>
          <a:xfrm>
            <a:off x="548640" y="5038344"/>
            <a:ext cx="11094415" cy="229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점검 계정은 권한 수준만 기재하며 계정 비밀번호·토큰·키는 기재하지 않는다.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3. 점검 개요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점검 범위와 방법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8</a:t>
            </a:fld>
          </a:p>
        </p:txBody>
      </p:sp>
      <p:sp>
        <p:nvSpPr>
          <p:cNvPr id="8" name="subhead"/>
          <p:cNvSpPr txBox="1"/>
          <p:nvPr/>
        </p:nvSpPr>
        <p:spPr>
          <a:xfrm>
            <a:off x="548640" y="141732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점검 범위</a:t>
            </a:r>
          </a:p>
        </p:txBody>
      </p:sp>
      <p:graphicFrame>
        <p:nvGraphicFramePr>
          <p:cNvPr id="9" name="scope"/>
          <p:cNvGraphicFramePr>
            <a:graphicFrameLocks noGrp="1"/>
          </p:cNvGraphicFramePr>
          <p:nvPr/>
        </p:nvGraphicFramePr>
        <p:xfrm>
          <a:off x="548640" y="1801368"/>
          <a:ext cx="11094415" cy="20482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1645920"/>
                <a:gridCol w="3840480"/>
                <a:gridCol w="3413455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범위 구분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대상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내용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사유 / 비고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 범위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실제 수행 범위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미수행 범위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[N/A 사유]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제외 범위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[N/A 사유]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ubhead"/>
          <p:cNvSpPr txBox="1"/>
          <p:nvPr/>
        </p:nvSpPr>
        <p:spPr>
          <a:xfrm>
            <a:off x="548640" y="412394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점검 방법</a:t>
            </a:r>
          </a:p>
        </p:txBody>
      </p:sp>
      <p:graphicFrame>
        <p:nvGraphicFramePr>
          <p:cNvPr id="11" name="method"/>
          <p:cNvGraphicFramePr>
            <a:graphicFrameLocks noGrp="1"/>
          </p:cNvGraphicFramePr>
          <p:nvPr/>
        </p:nvGraphicFramePr>
        <p:xfrm>
          <a:off x="548640" y="4507992"/>
          <a:ext cx="11094415" cy="1609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8899855"/>
              </a:tblGrid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 관점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□ 블랙박스   □ 그레이박스   □ 화이트박스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 위치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□ 외부   □ 내부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 방식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□ 자동   □ 수동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기준 시간대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3. 점검 개요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수행 인력 및 도구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9</a:t>
            </a:fld>
          </a:p>
        </p:txBody>
      </p:sp>
      <p:sp>
        <p:nvSpPr>
          <p:cNvPr id="8" name="subhead"/>
          <p:cNvSpPr txBox="1"/>
          <p:nvPr/>
        </p:nvSpPr>
        <p:spPr>
          <a:xfrm>
            <a:off x="548640" y="141732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수행 인력</a:t>
            </a:r>
          </a:p>
        </p:txBody>
      </p:sp>
      <p:graphicFrame>
        <p:nvGraphicFramePr>
          <p:cNvPr id="9" name="testers"/>
          <p:cNvGraphicFramePr>
            <a:graphicFrameLocks noGrp="1"/>
          </p:cNvGraphicFramePr>
          <p:nvPr/>
        </p:nvGraphicFramePr>
        <p:xfrm>
          <a:off x="548640" y="1801368"/>
          <a:ext cx="11094415" cy="1207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2743200"/>
                <a:gridCol w="2377440"/>
                <a:gridCol w="3596335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성명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소속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역할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수행 항목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ubhead"/>
          <p:cNvSpPr txBox="1"/>
          <p:nvPr/>
        </p:nvSpPr>
        <p:spPr>
          <a:xfrm>
            <a:off x="548640" y="3328416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도구</a:t>
            </a:r>
          </a:p>
        </p:txBody>
      </p:sp>
      <p:graphicFrame>
        <p:nvGraphicFramePr>
          <p:cNvPr id="11" name="tools"/>
          <p:cNvGraphicFramePr>
            <a:graphicFrameLocks noGrp="1"/>
          </p:cNvGraphicFramePr>
          <p:nvPr/>
        </p:nvGraphicFramePr>
        <p:xfrm>
          <a:off x="548640" y="3712464"/>
          <a:ext cx="11094415" cy="1207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2011680"/>
                <a:gridCol w="3962095"/>
                <a:gridCol w="2377440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도구명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도구 버전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 대상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3. 점검 개요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적용 기준과 점검 한계 및 전제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10</a:t>
            </a:fld>
          </a:p>
        </p:txBody>
      </p:sp>
      <p:sp>
        <p:nvSpPr>
          <p:cNvPr id="8" name="subhead"/>
          <p:cNvSpPr txBox="1"/>
          <p:nvPr/>
        </p:nvSpPr>
        <p:spPr>
          <a:xfrm>
            <a:off x="548640" y="141732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적용 기준</a:t>
            </a:r>
          </a:p>
        </p:txBody>
      </p:sp>
      <p:graphicFrame>
        <p:nvGraphicFramePr>
          <p:cNvPr id="9" name="standards"/>
          <p:cNvGraphicFramePr>
            <a:graphicFrameLocks noGrp="1"/>
          </p:cNvGraphicFramePr>
          <p:nvPr/>
        </p:nvGraphicFramePr>
        <p:xfrm>
          <a:off x="548640" y="1801368"/>
          <a:ext cx="11094415" cy="20482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20640"/>
                <a:gridCol w="1737360"/>
                <a:gridCol w="2194560"/>
                <a:gridCol w="2041855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판 / 연도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 항목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비고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KISA 주요정보통신기반시설 기술적 취약점 분석·평가 방법 상세가이드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OWASP Top 10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CWE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기타 기준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[N/A 사유]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[N/A 사유]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ubhead"/>
          <p:cNvSpPr txBox="1"/>
          <p:nvPr/>
        </p:nvSpPr>
        <p:spPr>
          <a:xfrm>
            <a:off x="548640" y="4169663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점검 한계 및 전제</a:t>
            </a:r>
          </a:p>
        </p:txBody>
      </p:sp>
      <p:graphicFrame>
        <p:nvGraphicFramePr>
          <p:cNvPr id="11" name="limits"/>
          <p:cNvGraphicFramePr>
            <a:graphicFrameLocks noGrp="1"/>
          </p:cNvGraphicFramePr>
          <p:nvPr/>
        </p:nvGraphicFramePr>
        <p:xfrm>
          <a:off x="548640" y="4553712"/>
          <a:ext cx="11094415" cy="1207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9448495"/>
              </a:tblGrid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한계 1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한계 2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한계 3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[N/A 사유]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4. 평가 기준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기술적 심각도와 조치 우선순위는 따로 정한다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11</a:t>
            </a:fld>
          </a:p>
        </p:txBody>
      </p:sp>
      <p:sp>
        <p:nvSpPr>
          <p:cNvPr id="8" name="principle-bg"/>
          <p:cNvSpPr/>
          <p:nvPr/>
        </p:nvSpPr>
        <p:spPr>
          <a:xfrm>
            <a:off x="548640" y="1417320"/>
            <a:ext cx="11094415" cy="656843"/>
          </a:xfrm>
          <a:prstGeom prst="rect">
            <a:avLst/>
          </a:prstGeom>
          <a:solidFill>
            <a:srgbClr val="E3F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rinciple-bar"/>
          <p:cNvSpPr/>
          <p:nvPr/>
        </p:nvSpPr>
        <p:spPr>
          <a:xfrm>
            <a:off x="548640" y="1417320"/>
            <a:ext cx="64008" cy="656843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rinciple"/>
          <p:cNvSpPr txBox="1"/>
          <p:nvPr/>
        </p:nvSpPr>
        <p:spPr>
          <a:xfrm>
            <a:off x="777240" y="1536192"/>
            <a:ext cx="10728655" cy="473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기술적 심각도는 취약점 자체의 악용 조건과 영향으로 산정하고, 조치 우선순위는 고객 환경을 반영해 별도로 결정한다. 긴급 심각도가 곧 즉시 조치 우선순위를 뜻하지 않는다.</a:t>
            </a:r>
          </a:p>
        </p:txBody>
      </p:sp>
      <p:sp>
        <p:nvSpPr>
          <p:cNvPr id="11" name="axis-0"/>
          <p:cNvSpPr/>
          <p:nvPr/>
        </p:nvSpPr>
        <p:spPr>
          <a:xfrm>
            <a:off x="548640" y="2348484"/>
            <a:ext cx="5364327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xis-top-0"/>
          <p:cNvSpPr/>
          <p:nvPr/>
        </p:nvSpPr>
        <p:spPr>
          <a:xfrm>
            <a:off x="548640" y="2348484"/>
            <a:ext cx="5364327" cy="54864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axis-head-0"/>
          <p:cNvSpPr txBox="1"/>
          <p:nvPr/>
        </p:nvSpPr>
        <p:spPr>
          <a:xfrm>
            <a:off x="777240" y="2503932"/>
            <a:ext cx="49071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기술적 심각도</a:t>
            </a:r>
          </a:p>
        </p:txBody>
      </p:sp>
      <p:sp>
        <p:nvSpPr>
          <p:cNvPr id="14" name="axis-body-0"/>
          <p:cNvSpPr txBox="1"/>
          <p:nvPr/>
        </p:nvSpPr>
        <p:spPr>
          <a:xfrm>
            <a:off x="777240" y="2851404"/>
            <a:ext cx="49071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lang="ko-KR" altLang="en-US">
                <a:solidFill>
                  <a:srgbClr val="1F2933"/>
                </a:solidFill>
                <a:latin typeface="Noto Sans CJK KR"/>
                <a:ea typeface="Noto Sans CJK KR"/>
                <a:cs typeface="Noto Sans CJK KR"/>
              </a:rPr>
              <a:t>취약점 자체의 악용 조건과 영향</a:t>
            </a:r>
          </a:p>
          <a:p>
            <a:pPr>
              <a:spcAft>
                <a:spcPts val="0"/>
              </a:spcAft>
            </a:pPr>
            <a:r>
              <a:rPr sz="1150" b="0" lang="ko-KR" altLang="en-US">
                <a:solidFill>
                  <a:srgbClr val="1F2933"/>
                </a:solidFill>
                <a:latin typeface="Noto Sans CJK KR"/>
                <a:ea typeface="Noto Sans CJK KR"/>
                <a:cs typeface="Noto Sans CJK KR"/>
              </a:rPr>
              <a:t>긴급 / 상 / 중 / 하 / 정보</a:t>
            </a:r>
          </a:p>
        </p:txBody>
      </p:sp>
      <p:sp>
        <p:nvSpPr>
          <p:cNvPr id="15" name="axis-1"/>
          <p:cNvSpPr/>
          <p:nvPr/>
        </p:nvSpPr>
        <p:spPr>
          <a:xfrm>
            <a:off x="6278727" y="2348484"/>
            <a:ext cx="5364327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axis-top-1"/>
          <p:cNvSpPr/>
          <p:nvPr/>
        </p:nvSpPr>
        <p:spPr>
          <a:xfrm>
            <a:off x="6278727" y="2348484"/>
            <a:ext cx="5364327" cy="54864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axis-head-1"/>
          <p:cNvSpPr txBox="1"/>
          <p:nvPr/>
        </p:nvSpPr>
        <p:spPr>
          <a:xfrm>
            <a:off x="6507327" y="2503932"/>
            <a:ext cx="490712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조치 우선순위</a:t>
            </a:r>
          </a:p>
        </p:txBody>
      </p:sp>
      <p:sp>
        <p:nvSpPr>
          <p:cNvPr id="18" name="axis-body-1"/>
          <p:cNvSpPr txBox="1"/>
          <p:nvPr/>
        </p:nvSpPr>
        <p:spPr>
          <a:xfrm>
            <a:off x="6507327" y="2851404"/>
            <a:ext cx="49071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lang="ko-KR" altLang="en-US">
                <a:solidFill>
                  <a:srgbClr val="1F2933"/>
                </a:solidFill>
                <a:latin typeface="Noto Sans CJK KR"/>
                <a:ea typeface="Noto Sans CJK KR"/>
                <a:cs typeface="Noto Sans CJK KR"/>
              </a:rPr>
              <a:t>노출도 · 업무 가치 · 실제 악용 여부 · 보완 통제</a:t>
            </a:r>
          </a:p>
          <a:p>
            <a:pPr>
              <a:spcAft>
                <a:spcPts val="0"/>
              </a:spcAft>
            </a:pPr>
            <a:r>
              <a:rPr sz="1150" b="0" lang="ko-KR" altLang="en-US">
                <a:solidFill>
                  <a:srgbClr val="1F2933"/>
                </a:solidFill>
                <a:latin typeface="Noto Sans CJK KR"/>
                <a:ea typeface="Noto Sans CJK KR"/>
                <a:cs typeface="Noto Sans CJK KR"/>
              </a:rPr>
              <a:t>즉시 / 단기 / 중기 / 계획</a:t>
            </a:r>
          </a:p>
        </p:txBody>
      </p:sp>
      <p:graphicFrame>
        <p:nvGraphicFramePr>
          <p:cNvPr id="19" name="method-choice"/>
          <p:cNvGraphicFramePr>
            <a:graphicFrameLocks noGrp="1"/>
          </p:cNvGraphicFramePr>
          <p:nvPr/>
        </p:nvGraphicFramePr>
        <p:xfrm>
          <a:off x="548640" y="3765804"/>
          <a:ext cx="11094415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7985455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주 평가 방식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□ CVSS   □ 영향도-가능성 매트릭스   (하나만 선택)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CVSS 버전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적용 메트릭 범위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점수·벡터·산정 근거 기록 위치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취약점 요약 카드(상세 근거는 부록 C 증거 상세)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4. 평가 기준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심각도 등급 정의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12</a:t>
            </a:fld>
          </a:p>
        </p:txBody>
      </p:sp>
      <p:graphicFrame>
        <p:nvGraphicFramePr>
          <p:cNvPr id="8" name="severity"/>
          <p:cNvGraphicFramePr>
            <a:graphicFrameLocks noGrp="1"/>
          </p:cNvGraphicFramePr>
          <p:nvPr/>
        </p:nvGraphicFramePr>
        <p:xfrm>
          <a:off x="548640" y="1417320"/>
          <a:ext cx="11094415" cy="295655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/>
                <a:gridCol w="5973775"/>
                <a:gridCol w="2011680"/>
                <a:gridCol w="201168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등급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정성적 정의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CVSS 점수 구간(합의값)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매트릭스 매핑(합의값)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542543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긴급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낮은 전제 조건으로 원격 악용이 가능하고 시스템 장악·대량 정보 유출 등 광범위한 피해로 직결된다.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중요 정보 유출·권한 상승·주요 기능 변조가 가능하나 일부 전제 조건이 필요하다.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제한된 조건에서 악용되거나 피해 범위가 일부 사용자·기능으로 한정된다.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악용 조건이 까다롭거나 피해가 경미해 단독으로는 영향이 낮다.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정보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직접 피해는 없으나 보안 수준 향상을 위해 개선을 권고한다.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산정 제외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ule"/>
          <p:cNvSpPr txBox="1"/>
          <p:nvPr/>
        </p:nvSpPr>
        <p:spPr>
          <a:xfrm>
            <a:off x="548640" y="4556760"/>
            <a:ext cx="11094415" cy="229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점수 구간과 매핑은 고객과 합의한 값만 기재한다. 정보 등급은 CVSS를 산정하지 않는다.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4. 평가 기준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영향도-가능성 매트릭스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13</a:t>
            </a:fld>
          </a:p>
        </p:txBody>
      </p:sp>
      <p:sp>
        <p:nvSpPr>
          <p:cNvPr id="8" name="subhead"/>
          <p:cNvSpPr txBox="1"/>
          <p:nvPr/>
        </p:nvSpPr>
        <p:spPr>
          <a:xfrm>
            <a:off x="548640" y="1417320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축 정의</a:t>
            </a:r>
          </a:p>
        </p:txBody>
      </p:sp>
      <p:graphicFrame>
        <p:nvGraphicFramePr>
          <p:cNvPr id="9" name="impact-axis"/>
          <p:cNvGraphicFramePr>
            <a:graphicFrameLocks noGrp="1"/>
          </p:cNvGraphicFramePr>
          <p:nvPr/>
        </p:nvGraphicFramePr>
        <p:xfrm>
          <a:off x="548640" y="1801368"/>
          <a:ext cx="5120639" cy="15727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/>
                <a:gridCol w="3657599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영향도 단계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정의(합의값)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높음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낮음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likelihood-axis"/>
          <p:cNvGraphicFramePr>
            <a:graphicFrameLocks noGrp="1"/>
          </p:cNvGraphicFramePr>
          <p:nvPr/>
        </p:nvGraphicFramePr>
        <p:xfrm>
          <a:off x="548640" y="3602736"/>
          <a:ext cx="5120639" cy="15727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/>
                <a:gridCol w="3657599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가능성 단계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정의(합의값)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높음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낮음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ubhead"/>
          <p:cNvSpPr txBox="1"/>
          <p:nvPr/>
        </p:nvSpPr>
        <p:spPr>
          <a:xfrm>
            <a:off x="6126479" y="1417320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등급 매핑</a:t>
            </a:r>
          </a:p>
        </p:txBody>
      </p:sp>
      <p:graphicFrame>
        <p:nvGraphicFramePr>
          <p:cNvPr id="12" name="matrix"/>
          <p:cNvGraphicFramePr>
            <a:graphicFrameLocks noGrp="1"/>
          </p:cNvGraphicFramePr>
          <p:nvPr/>
        </p:nvGraphicFramePr>
        <p:xfrm>
          <a:off x="6126479" y="1801368"/>
          <a:ext cx="5516574" cy="23408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1259738"/>
                <a:gridCol w="1259738"/>
                <a:gridCol w="1259738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영향도 \ 가능성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높음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낮음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높음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낮음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ule"/>
          <p:cNvSpPr txBox="1"/>
          <p:nvPr/>
        </p:nvSpPr>
        <p:spPr>
          <a:xfrm>
            <a:off x="6126479" y="4325112"/>
            <a:ext cx="5516575" cy="229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각 칸에는 합의한 심각도 등급(긴급/상/중/하/정보)을 기재한다.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4. 평가 기준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조치 우선순위 기준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14</a:t>
            </a:fld>
          </a:p>
        </p:txBody>
      </p:sp>
      <p:sp>
        <p:nvSpPr>
          <p:cNvPr id="8" name="subhead"/>
          <p:cNvSpPr txBox="1"/>
          <p:nvPr/>
        </p:nvSpPr>
        <p:spPr>
          <a:xfrm>
            <a:off x="548640" y="1417320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판단 요소</a:t>
            </a:r>
          </a:p>
        </p:txBody>
      </p:sp>
      <p:graphicFrame>
        <p:nvGraphicFramePr>
          <p:cNvPr id="9" name="priority-criteria"/>
          <p:cNvGraphicFramePr>
            <a:graphicFrameLocks noGrp="1"/>
          </p:cNvGraphicFramePr>
          <p:nvPr/>
        </p:nvGraphicFramePr>
        <p:xfrm>
          <a:off x="548640" y="1801368"/>
          <a:ext cx="6126480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/>
                <a:gridCol w="3017520"/>
                <a:gridCol w="1645920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판단 요소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판단 질문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반영 기준(합의값)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노출도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외부에서 접근 가능한가, 인증이 필요한가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업무 가치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대상 자산·데이터의 업무 중요도는 어느 수준인가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실제 악용 여부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공개 공격 코드나 실제 악용 정황이 확인되는가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보완 통제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근본 조치 전까지 위험을 낮추는 통제가 운영 중인가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ubhead"/>
          <p:cNvSpPr txBox="1"/>
          <p:nvPr/>
        </p:nvSpPr>
        <p:spPr>
          <a:xfrm>
            <a:off x="7040880" y="1417320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우선순위 단계</a:t>
            </a:r>
          </a:p>
        </p:txBody>
      </p:sp>
      <p:graphicFrame>
        <p:nvGraphicFramePr>
          <p:cNvPr id="11" name="priority-levels"/>
          <p:cNvGraphicFramePr>
            <a:graphicFrameLocks noGrp="1"/>
          </p:cNvGraphicFramePr>
          <p:nvPr/>
        </p:nvGraphicFramePr>
        <p:xfrm>
          <a:off x="7040880" y="1801368"/>
          <a:ext cx="4602175" cy="273710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5840"/>
                <a:gridCol w="2407615"/>
                <a:gridCol w="1188720"/>
              </a:tblGrid>
              <a:tr h="542543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우선순위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조치 기한(합의값)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즉시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노출·악용 정황 등으로 일정 조정 없이 착수한다.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단기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다음 정기 변경 주기 안에 조치한다.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중기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계획된 개선 일정에 반영해 조치한다.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계획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구조 개선 등 장기 과제로 관리한다.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ule"/>
          <p:cNvSpPr txBox="1"/>
          <p:nvPr/>
        </p:nvSpPr>
        <p:spPr>
          <a:xfrm>
            <a:off x="548640" y="4767072"/>
            <a:ext cx="11094415" cy="229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조치 기한은 고객과 합의한 값으로만 기재하며 임의의 SLA를 적용하지 않는다.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5. 점검 결과 목록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점검 결과 목록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15</a:t>
            </a:fld>
          </a:p>
        </p:txBody>
      </p:sp>
      <p:graphicFrame>
        <p:nvGraphicFramePr>
          <p:cNvPr id="8" name="results"/>
          <p:cNvGraphicFramePr>
            <a:graphicFrameLocks noGrp="1"/>
          </p:cNvGraphicFramePr>
          <p:nvPr/>
        </p:nvGraphicFramePr>
        <p:xfrm>
          <a:off x="548640" y="1417320"/>
          <a:ext cx="11094415" cy="2633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5880"/>
                <a:gridCol w="1783080"/>
                <a:gridCol w="1188720"/>
                <a:gridCol w="960120"/>
                <a:gridCol w="1143000"/>
                <a:gridCol w="1234440"/>
                <a:gridCol w="1097280"/>
                <a:gridCol w="1234440"/>
                <a:gridCol w="1127455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취약점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제목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대상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심각도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우선순위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조치 상태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담당자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조치 기한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중복 그룹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5. 점검 결과 목록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식별자 체계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16</a:t>
            </a:fld>
          </a:p>
        </p:txBody>
      </p:sp>
      <p:graphicFrame>
        <p:nvGraphicFramePr>
          <p:cNvPr id="8" name="id-scheme"/>
          <p:cNvGraphicFramePr>
            <a:graphicFrameLocks noGrp="1"/>
          </p:cNvGraphicFramePr>
          <p:nvPr/>
        </p:nvGraphicFramePr>
        <p:xfrm>
          <a:off x="548640" y="1417320"/>
          <a:ext cx="11094415" cy="3108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3291840"/>
                <a:gridCol w="5973775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식별자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의미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사용 위치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등록 발견사항(취약점)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결과 목록 · 요약 카드 · 조치 계획 · 재점검 · 증거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중복 그룹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경영진 요약 · 결과 목록 · 요약 카드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증거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요약 카드 · 재점검 · 부록 C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 대상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 개요 · 결과 목록 · 부록 A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승인/RoE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 개요 · 부록 A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 항목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부록 B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6. 취약점 요약 카드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취약점 요약 카드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17</a:t>
            </a:fld>
          </a:p>
        </p:txBody>
      </p:sp>
      <p:sp>
        <p:nvSpPr>
          <p:cNvPr id="8" name="author-note-bg"/>
          <p:cNvSpPr/>
          <p:nvPr/>
        </p:nvSpPr>
        <p:spPr>
          <a:xfrm>
            <a:off x="6583680" y="365760"/>
            <a:ext cx="5059375" cy="518160"/>
          </a:xfrm>
          <a:prstGeom prst="rect">
            <a:avLst/>
          </a:prstGeom>
          <a:solidFill>
            <a:srgbClr val="FFF4E0"/>
          </a:solidFill>
          <a:ln w="9525">
            <a:solidFill>
              <a:srgbClr val="B26A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author-note"/>
          <p:cNvSpPr txBox="1"/>
          <p:nvPr/>
        </p:nvSpPr>
        <p:spPr>
          <a:xfrm>
            <a:off x="6720840" y="457200"/>
            <a:ext cx="4785055" cy="3718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 lang="ko-KR" altLang="en-US">
                <a:solidFill>
                  <a:srgbClr val="7A4A00"/>
                </a:solidFill>
                <a:latin typeface="Noto Sans CJK KR"/>
                <a:ea typeface="Noto Sans CJK KR"/>
                <a:cs typeface="Noto Sans CJK KR"/>
              </a:rPr>
              <a:t>작성 지침 · 고객 배포 전 삭제 — 이 슬라이드 1장이 카드 1장이다. 고유 취약점마다 슬라이드를 복제하고, 긴 재현 내용은 부록 C에 둔다.</a:t>
            </a:r>
          </a:p>
        </p:txBody>
      </p:sp>
      <p:graphicFrame>
        <p:nvGraphicFramePr>
          <p:cNvPr id="10" name="card-meta"/>
          <p:cNvGraphicFramePr>
            <a:graphicFrameLocks noGrp="1"/>
          </p:cNvGraphicFramePr>
          <p:nvPr/>
        </p:nvGraphicFramePr>
        <p:xfrm>
          <a:off x="548640" y="1417320"/>
          <a:ext cx="4709159" cy="4279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/>
                <a:gridCol w="2834640"/>
              </a:tblGrid>
              <a:tr h="3566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취약점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제목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대상 · URL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대상 · 파라미터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대상 · 호스트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분류 · OWASP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분류 · CWE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분류 · 중복 그룹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심각도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CVSS 버전·점수·벡터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버전 </a:t>
                      </a: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  <a:r>
                        <a:rPr sz="11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· 점수 </a:t>
                      </a: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  <a:r>
                        <a:rPr sz="11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· 벡터 </a:t>
                      </a: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산정 근거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  <a:r>
                        <a:rPr sz="11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(상세: 부록 C </a:t>
                      </a: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E-[입력]</a:t>
                      </a:r>
                      <a:r>
                        <a:rPr sz="11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우선순위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ard-flow"/>
          <p:cNvGraphicFramePr>
            <a:graphicFrameLocks noGrp="1"/>
          </p:cNvGraphicFramePr>
          <p:nvPr/>
        </p:nvGraphicFramePr>
        <p:xfrm>
          <a:off x="5486400" y="1417320"/>
          <a:ext cx="6156655" cy="42729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327855"/>
              </a:tblGrid>
              <a:tr h="610427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① 관찰된 문제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0427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② 증거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0427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③ 영향 시나리오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누가 </a:t>
                      </a: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  <a:r>
                        <a:rPr sz="11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  어떤 조건에서 </a:t>
                      </a: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  <a:r>
                        <a:rPr sz="11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  어떤 피해 </a:t>
                      </a: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0427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④ 단기 완화 조치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0427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⑤ 근본 패치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변경 위치 </a:t>
                      </a: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  <a:r>
                        <a:rPr sz="11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  변경 로직·설정 </a:t>
                      </a: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  <a:r>
                        <a:rPr sz="11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  정상 동작 유지 </a:t>
                      </a: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0427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⑥ 패치 수용 기준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0427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참고자료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ule"/>
          <p:cNvSpPr txBox="1"/>
          <p:nvPr/>
        </p:nvSpPr>
        <p:spPr>
          <a:xfrm>
            <a:off x="548640" y="5806440"/>
            <a:ext cx="11094415" cy="2125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상세 재현 절차, 마스킹한 요청/응답, 스크린샷은 부록 C에 증거 ID 기준으로 기재한다. CVSS 칸은 주 평가 방식이 CVSS일 때만 입력하고, 매트릭스 방식이거나 정보 등급이면 미적용 사유를 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7. 조치 계획 및 재점검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조치 상태와 재점검 상태는 분리한다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18</a:t>
            </a:fld>
          </a:p>
        </p:txBody>
      </p:sp>
      <p:sp>
        <p:nvSpPr>
          <p:cNvPr id="8" name="subhead"/>
          <p:cNvSpPr txBox="1"/>
          <p:nvPr/>
        </p:nvSpPr>
        <p:spPr>
          <a:xfrm>
            <a:off x="548640" y="1417320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조치 상태</a:t>
            </a:r>
          </a:p>
        </p:txBody>
      </p:sp>
      <p:graphicFrame>
        <p:nvGraphicFramePr>
          <p:cNvPr id="9" name="action-states"/>
          <p:cNvGraphicFramePr>
            <a:graphicFrameLocks noGrp="1"/>
          </p:cNvGraphicFramePr>
          <p:nvPr/>
        </p:nvGraphicFramePr>
        <p:xfrm>
          <a:off x="548640" y="1801368"/>
          <a:ext cx="5364327" cy="2121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/>
                <a:gridCol w="3992727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조치 상태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미착수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담당자 지정 전이거나 조치에 착수하지 않음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진행 중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조치 작업이 진행 중임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조치 제출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조치 완료를 제출했으나 재점검으로 확인되지 않음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완료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재점검이 '해결 확인'이고 정상 동작 확인이 기록됨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ubhead"/>
          <p:cNvSpPr txBox="1"/>
          <p:nvPr/>
        </p:nvSpPr>
        <p:spPr>
          <a:xfrm>
            <a:off x="6278727" y="1417320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재점검 상태</a:t>
            </a:r>
          </a:p>
        </p:txBody>
      </p:sp>
      <p:graphicFrame>
        <p:nvGraphicFramePr>
          <p:cNvPr id="11" name="retest-states"/>
          <p:cNvGraphicFramePr>
            <a:graphicFrameLocks noGrp="1"/>
          </p:cNvGraphicFramePr>
          <p:nvPr/>
        </p:nvGraphicFramePr>
        <p:xfrm>
          <a:off x="6278727" y="1801368"/>
          <a:ext cx="5364327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/>
                <a:gridCol w="3992727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재점검 상태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미실시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재점검을 수행하지 않음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해결 확인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같은 재현 절차로 재현되지 않고 정상 기능이 유지됨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일부 해결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일부 대상·경로·조건에서 여전히 재현됨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미해결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조치 전과 같이 재현됨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 불가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환경·권한·일정 제약으로 판정할 수 없음(사유 기재)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principle-bg"/>
          <p:cNvSpPr/>
          <p:nvPr/>
        </p:nvSpPr>
        <p:spPr>
          <a:xfrm>
            <a:off x="548640" y="4636007"/>
            <a:ext cx="11094415" cy="438912"/>
          </a:xfrm>
          <a:prstGeom prst="rect">
            <a:avLst/>
          </a:prstGeom>
          <a:solidFill>
            <a:srgbClr val="E3F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rinciple-bar"/>
          <p:cNvSpPr/>
          <p:nvPr/>
        </p:nvSpPr>
        <p:spPr>
          <a:xfrm>
            <a:off x="548640" y="4636007"/>
            <a:ext cx="64008" cy="438912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rinciple"/>
          <p:cNvSpPr txBox="1"/>
          <p:nvPr/>
        </p:nvSpPr>
        <p:spPr>
          <a:xfrm>
            <a:off x="777240" y="4754879"/>
            <a:ext cx="10728655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조치 상태 '완료'는 재점검 상태가 '해결 확인'이고 정상 동작 확인이 기록된 경우에만 부여한다. '조치 제출'만으로는 완료로 집계하지 않는다.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7. 조치 계획 및 재점검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조치 계획과 재점검 결과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19</a:t>
            </a:fld>
          </a:p>
        </p:txBody>
      </p:sp>
      <p:sp>
        <p:nvSpPr>
          <p:cNvPr id="8" name="subhead"/>
          <p:cNvSpPr txBox="1"/>
          <p:nvPr/>
        </p:nvSpPr>
        <p:spPr>
          <a:xfrm>
            <a:off x="548640" y="141732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조치 계획</a:t>
            </a:r>
          </a:p>
        </p:txBody>
      </p:sp>
      <p:graphicFrame>
        <p:nvGraphicFramePr>
          <p:cNvPr id="9" name="plan"/>
          <p:cNvGraphicFramePr>
            <a:graphicFrameLocks noGrp="1"/>
          </p:cNvGraphicFramePr>
          <p:nvPr/>
        </p:nvGraphicFramePr>
        <p:xfrm>
          <a:off x="548640" y="1801368"/>
          <a:ext cx="11094415" cy="15727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45920"/>
                <a:gridCol w="4693615"/>
                <a:gridCol w="1737360"/>
                <a:gridCol w="1463040"/>
                <a:gridCol w="1554480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취약점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조치 내용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담당자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조치 기한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조치 상태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ubhead"/>
          <p:cNvSpPr txBox="1"/>
          <p:nvPr/>
        </p:nvSpPr>
        <p:spPr>
          <a:xfrm>
            <a:off x="548640" y="3648456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재점검 결과</a:t>
            </a:r>
          </a:p>
        </p:txBody>
      </p:sp>
      <p:graphicFrame>
        <p:nvGraphicFramePr>
          <p:cNvPr id="11" name="retest"/>
          <p:cNvGraphicFramePr>
            <a:graphicFrameLocks noGrp="1"/>
          </p:cNvGraphicFramePr>
          <p:nvPr/>
        </p:nvGraphicFramePr>
        <p:xfrm>
          <a:off x="548640" y="4032504"/>
          <a:ext cx="11094415" cy="15727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45920"/>
                <a:gridCol w="1737360"/>
                <a:gridCol w="1737360"/>
                <a:gridCol w="1737360"/>
                <a:gridCol w="1645920"/>
                <a:gridCol w="2590495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취약점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재점검 상태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재점검일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재점검자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증거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정상 동작 확인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7. 조치 계획 및 재점검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위험 수용과 조치 현황 집계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20</a:t>
            </a:fld>
          </a:p>
        </p:txBody>
      </p:sp>
      <p:sp>
        <p:nvSpPr>
          <p:cNvPr id="8" name="subhead"/>
          <p:cNvSpPr txBox="1"/>
          <p:nvPr/>
        </p:nvSpPr>
        <p:spPr>
          <a:xfrm>
            <a:off x="548640" y="141732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위험 수용</a:t>
            </a:r>
          </a:p>
        </p:txBody>
      </p:sp>
      <p:graphicFrame>
        <p:nvGraphicFramePr>
          <p:cNvPr id="9" name="risk-acceptance"/>
          <p:cNvGraphicFramePr>
            <a:graphicFrameLocks noGrp="1"/>
          </p:cNvGraphicFramePr>
          <p:nvPr/>
        </p:nvGraphicFramePr>
        <p:xfrm>
          <a:off x="548640" y="1801368"/>
          <a:ext cx="11094415" cy="822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1737360"/>
                <a:gridCol w="1828800"/>
                <a:gridCol w="1828800"/>
                <a:gridCol w="1325880"/>
                <a:gridCol w="1325880"/>
                <a:gridCol w="1630375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취약점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위험 수용 승인자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수용 사유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보완 통제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만료일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재검토일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 상태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미승인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ule"/>
          <p:cNvSpPr txBox="1"/>
          <p:nvPr/>
        </p:nvSpPr>
        <p:spPr>
          <a:xfrm>
            <a:off x="548640" y="2761488"/>
            <a:ext cx="11094415" cy="229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위험 수용 건은 조치 완료 건수에 포함하지 않고 별도로 집계한다. 만료일이 지나면 재검토 전까지 미조치 위험으로 관리한다.</a:t>
            </a:r>
          </a:p>
        </p:txBody>
      </p:sp>
      <p:sp>
        <p:nvSpPr>
          <p:cNvPr id="11" name="subhead"/>
          <p:cNvSpPr txBox="1"/>
          <p:nvPr/>
        </p:nvSpPr>
        <p:spPr>
          <a:xfrm>
            <a:off x="548640" y="321945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조치 현황 집계</a:t>
            </a:r>
          </a:p>
        </p:txBody>
      </p:sp>
      <p:graphicFrame>
        <p:nvGraphicFramePr>
          <p:cNvPr id="12" name="status-basis"/>
          <p:cNvGraphicFramePr>
            <a:graphicFrameLocks noGrp="1"/>
          </p:cNvGraphicFramePr>
          <p:nvPr/>
        </p:nvGraphicFramePr>
        <p:xfrm>
          <a:off x="548640" y="3603498"/>
          <a:ext cx="5120639" cy="402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3657599"/>
              </a:tblGrid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집계 기준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□ 등록 발견사항   □ 중복 제거 고유 취약점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status-counts"/>
          <p:cNvGraphicFramePr>
            <a:graphicFrameLocks noGrp="1"/>
          </p:cNvGraphicFramePr>
          <p:nvPr/>
        </p:nvGraphicFramePr>
        <p:xfrm>
          <a:off x="6035040" y="3603498"/>
          <a:ext cx="5608015" cy="2103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7775"/>
                <a:gridCol w="1920240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완료(해결 확인)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조치 제출(재점검 대기)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진행 중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미착수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위험 수용(완료 집계 제외)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[건수]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부록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부록 A. 전체 점검 대상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21</a:t>
            </a:fld>
          </a:p>
        </p:txBody>
      </p:sp>
      <p:graphicFrame>
        <p:nvGraphicFramePr>
          <p:cNvPr id="8" name="appx-targets"/>
          <p:cNvGraphicFramePr>
            <a:graphicFrameLocks noGrp="1"/>
          </p:cNvGraphicFramePr>
          <p:nvPr/>
        </p:nvGraphicFramePr>
        <p:xfrm>
          <a:off x="548640" y="1417320"/>
          <a:ext cx="11094415" cy="2121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/>
                <a:gridCol w="1737360"/>
                <a:gridCol w="2377440"/>
                <a:gridCol w="1280160"/>
                <a:gridCol w="1783080"/>
                <a:gridCol w="1188720"/>
                <a:gridCol w="1356055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대상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자산명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IP / 도메인 / URL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앱 버전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 계정 권한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RoE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범위 구분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ule"/>
          <p:cNvSpPr txBox="1"/>
          <p:nvPr/>
        </p:nvSpPr>
        <p:spPr>
          <a:xfrm>
            <a:off x="548640" y="3703320"/>
            <a:ext cx="11094415" cy="229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범위 구분 값: 승인 / 실제 수행 / 미수행 / 제외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부록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부록 B. 점검 항목 수행 현황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22</a:t>
            </a:fld>
          </a:p>
        </p:txBody>
      </p:sp>
      <p:graphicFrame>
        <p:nvGraphicFramePr>
          <p:cNvPr id="8" name="perf-states"/>
          <p:cNvGraphicFramePr>
            <a:graphicFrameLocks noGrp="1"/>
          </p:cNvGraphicFramePr>
          <p:nvPr/>
        </p:nvGraphicFramePr>
        <p:xfrm>
          <a:off x="548640" y="1417320"/>
          <a:ext cx="4572000" cy="15179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/>
                <a:gridCol w="3200400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수행 상태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수행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항목을 점검함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미수행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점검하지 않음(사유 필수)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해당 없음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대상에 적용되지 않음(사유 필수)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heck-rule-bg"/>
          <p:cNvSpPr/>
          <p:nvPr/>
        </p:nvSpPr>
        <p:spPr>
          <a:xfrm>
            <a:off x="5486400" y="1417320"/>
            <a:ext cx="6156655" cy="438912"/>
          </a:xfrm>
          <a:prstGeom prst="rect">
            <a:avLst/>
          </a:prstGeom>
          <a:solidFill>
            <a:srgbClr val="E3F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heck-rule-bar"/>
          <p:cNvSpPr/>
          <p:nvPr/>
        </p:nvSpPr>
        <p:spPr>
          <a:xfrm>
            <a:off x="5486400" y="1417320"/>
            <a:ext cx="64008" cy="438912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heck-rule"/>
          <p:cNvSpPr txBox="1"/>
          <p:nvPr/>
        </p:nvSpPr>
        <p:spPr>
          <a:xfrm>
            <a:off x="5715000" y="1536192"/>
            <a:ext cx="5790895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미수행 또는 해당 없음 항목을 '양호'로 기재하지 않는다.</a:t>
            </a:r>
          </a:p>
        </p:txBody>
      </p:sp>
      <p:graphicFrame>
        <p:nvGraphicFramePr>
          <p:cNvPr id="12" name="checklist"/>
          <p:cNvGraphicFramePr>
            <a:graphicFrameLocks noGrp="1"/>
          </p:cNvGraphicFramePr>
          <p:nvPr/>
        </p:nvGraphicFramePr>
        <p:xfrm>
          <a:off x="548640" y="3209544"/>
          <a:ext cx="11094415" cy="19751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1371600"/>
                <a:gridCol w="2377440"/>
                <a:gridCol w="1280160"/>
                <a:gridCol w="1371600"/>
                <a:gridCol w="1280160"/>
                <a:gridCol w="1858975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점검 항목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항목명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대상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수행 상태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결과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미수행 사유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[N/A 사유]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[N/A 사유]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[N/A 사유]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[N/A 사유]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ule"/>
          <p:cNvSpPr txBox="1"/>
          <p:nvPr/>
        </p:nvSpPr>
        <p:spPr>
          <a:xfrm>
            <a:off x="548640" y="5321808"/>
            <a:ext cx="11094415" cy="220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결과 값: 취약 / 양호 / 판정 불가. 미수행·해당 없음 항목의 결과 칸에는 판정하지 않은 사유를 기재한다.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부록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부록 C. 상세 재현 및 증거 — 증거 목록과 보관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23</a:t>
            </a:fld>
          </a:p>
        </p:txBody>
      </p:sp>
      <p:graphicFrame>
        <p:nvGraphicFramePr>
          <p:cNvPr id="8" name="evidence"/>
          <p:cNvGraphicFramePr>
            <a:graphicFrameLocks noGrp="1"/>
          </p:cNvGraphicFramePr>
          <p:nvPr/>
        </p:nvGraphicFramePr>
        <p:xfrm>
          <a:off x="548640" y="1417320"/>
          <a:ext cx="11094415" cy="12435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/>
                <a:gridCol w="1691640"/>
                <a:gridCol w="1463040"/>
                <a:gridCol w="1920240"/>
                <a:gridCol w="1691640"/>
                <a:gridCol w="1371600"/>
                <a:gridCol w="1584655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증거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관련 취약점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증거 유형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저장 위치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접근 권한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보존 기한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마스킹 여부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ubhead"/>
          <p:cNvSpPr txBox="1"/>
          <p:nvPr/>
        </p:nvSpPr>
        <p:spPr>
          <a:xfrm>
            <a:off x="548640" y="298094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5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마스킹 및 보관 규칙</a:t>
            </a:r>
          </a:p>
        </p:txBody>
      </p:sp>
      <p:sp>
        <p:nvSpPr>
          <p:cNvPr id="10" name="mask-dot-0"/>
          <p:cNvSpPr/>
          <p:nvPr/>
        </p:nvSpPr>
        <p:spPr>
          <a:xfrm>
            <a:off x="548640" y="3433572"/>
            <a:ext cx="82296" cy="82296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ask-rule-0"/>
          <p:cNvSpPr txBox="1"/>
          <p:nvPr/>
        </p:nvSpPr>
        <p:spPr>
          <a:xfrm>
            <a:off x="777240" y="3364992"/>
            <a:ext cx="108658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lang="ko-KR" altLang="en-US">
                <a:solidFill>
                  <a:srgbClr val="1F2933"/>
                </a:solidFill>
                <a:latin typeface="Noto Sans CJK KR"/>
                <a:ea typeface="Noto Sans CJK KR"/>
                <a:cs typeface="Noto Sans CJK KR"/>
              </a:rPr>
              <a:t>비밀번호, 세션 토큰, API 키, 인증 쿠키, 개인 키는 원문을 기재하지 않고 [마스킹]으로 치환한다.</a:t>
            </a:r>
          </a:p>
        </p:txBody>
      </p:sp>
      <p:sp>
        <p:nvSpPr>
          <p:cNvPr id="12" name="mask-dot-1"/>
          <p:cNvSpPr/>
          <p:nvPr/>
        </p:nvSpPr>
        <p:spPr>
          <a:xfrm>
            <a:off x="548640" y="3762756"/>
            <a:ext cx="82296" cy="82296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ask-rule-1"/>
          <p:cNvSpPr txBox="1"/>
          <p:nvPr/>
        </p:nvSpPr>
        <p:spPr>
          <a:xfrm>
            <a:off x="777240" y="3694176"/>
            <a:ext cx="108658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lang="ko-KR" altLang="en-US">
                <a:solidFill>
                  <a:srgbClr val="1F2933"/>
                </a:solidFill>
                <a:latin typeface="Noto Sans CJK KR"/>
                <a:ea typeface="Noto Sans CJK KR"/>
                <a:cs typeface="Noto Sans CJK KR"/>
              </a:rPr>
              <a:t>개인정보와 실제 고객 데이터는 식별할 수 없도록 마스킹한 뒤 저장한다.</a:t>
            </a:r>
          </a:p>
        </p:txBody>
      </p:sp>
      <p:sp>
        <p:nvSpPr>
          <p:cNvPr id="14" name="mask-dot-2"/>
          <p:cNvSpPr/>
          <p:nvPr/>
        </p:nvSpPr>
        <p:spPr>
          <a:xfrm>
            <a:off x="548640" y="4091939"/>
            <a:ext cx="82296" cy="82296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ask-rule-2"/>
          <p:cNvSpPr txBox="1"/>
          <p:nvPr/>
        </p:nvSpPr>
        <p:spPr>
          <a:xfrm>
            <a:off x="777240" y="4023359"/>
            <a:ext cx="108658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 lang="ko-KR" altLang="en-US">
                <a:solidFill>
                  <a:srgbClr val="1F2933"/>
                </a:solidFill>
                <a:latin typeface="Noto Sans CJK KR"/>
                <a:ea typeface="Noto Sans CJK KR"/>
                <a:cs typeface="Noto Sans CJK KR"/>
              </a:rPr>
              <a:t>증거 원본은 지정된 저장 위치에만 보관하고 접근 권한과 보존 기한을 기록한다.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부록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부록 C. 상세 재현 및 증거 — 증거 상세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24</a:t>
            </a:fld>
          </a:p>
        </p:txBody>
      </p:sp>
      <p:graphicFrame>
        <p:nvGraphicFramePr>
          <p:cNvPr id="8" name="repro-left"/>
          <p:cNvGraphicFramePr>
            <a:graphicFrameLocks noGrp="1"/>
          </p:cNvGraphicFramePr>
          <p:nvPr/>
        </p:nvGraphicFramePr>
        <p:xfrm>
          <a:off x="548640" y="1417320"/>
          <a:ext cx="5410047" cy="2148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3672687"/>
              </a:tblGrid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증거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관련 취약점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재현 전제 조건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재현 절차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repro-right"/>
          <p:cNvGraphicFramePr>
            <a:graphicFrameLocks noGrp="1"/>
          </p:cNvGraphicFramePr>
          <p:nvPr/>
        </p:nvGraphicFramePr>
        <p:xfrm>
          <a:off x="6233007" y="1417320"/>
          <a:ext cx="5410047" cy="3246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3672687"/>
              </a:tblGrid>
              <a:tr h="777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요청(마스킹)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응답(마스킹)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스크린샷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평가 산정 근거(상세)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 결과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부록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부록 D. 변경 이력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25</a:t>
            </a:fld>
          </a:p>
        </p:txBody>
      </p:sp>
      <p:graphicFrame>
        <p:nvGraphicFramePr>
          <p:cNvPr id="8" name="change-history"/>
          <p:cNvGraphicFramePr>
            <a:graphicFrameLocks noGrp="1"/>
          </p:cNvGraphicFramePr>
          <p:nvPr/>
        </p:nvGraphicFramePr>
        <p:xfrm>
          <a:off x="548640" y="1417320"/>
          <a:ext cx="11094415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/>
                <a:gridCol w="1554480"/>
                <a:gridCol w="1737360"/>
                <a:gridCol w="1737360"/>
                <a:gridCol w="1737360"/>
                <a:gridCol w="1371600"/>
                <a:gridCol w="1584655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일자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취약점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변경 항목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변경 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변경 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변경자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근거 증거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lang="ko-KR" altLang="en-US">
                          <a:solidFill>
                            <a:srgbClr val="0F7C80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E-[입력]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otif"/>
          <p:cNvSpPr/>
          <p:nvPr/>
        </p:nvSpPr>
        <p:spPr>
          <a:xfrm>
            <a:off x="548640" y="475488"/>
            <a:ext cx="109728" cy="10972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ection-label"/>
          <p:cNvSpPr txBox="1"/>
          <p:nvPr/>
        </p:nvSpPr>
        <p:spPr>
          <a:xfrm>
            <a:off x="749808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부록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676656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 lang="ko-KR" altLang="en-US">
                <a:solidFill>
                  <a:srgbClr val="0B2545"/>
                </a:solidFill>
                <a:latin typeface="Noto Sans CJK KR"/>
                <a:ea typeface="Noto Sans CJK KR"/>
                <a:cs typeface="Noto Sans CJK KR"/>
              </a:rPr>
              <a:t>부록 E. 용어집</a:t>
            </a:r>
          </a:p>
        </p:txBody>
      </p:sp>
      <p:cxnSp>
        <p:nvCxnSpPr>
          <p:cNvPr id="5" name="title-rule"/>
          <p:cNvCxnSpPr/>
          <p:nvPr/>
        </p:nvCxnSpPr>
        <p:spPr>
          <a:xfrm>
            <a:off x="548640" y="1261872"/>
            <a:ext cx="11094415" cy="0"/>
          </a:xfrm>
          <a:prstGeom prst="line">
            <a:avLst/>
          </a:prstGeom>
          <a:ln w="9525">
            <a:solidFill>
              <a:srgbClr val="C9D3DD"/>
            </a:solidFill>
          </a:ln>
          <a:effectLst/>
        </p:spPr>
      </p:cxnSp>
      <p:sp>
        <p:nvSpPr>
          <p:cNvPr id="6" name="footer-left"/>
          <p:cNvSpPr txBox="1"/>
          <p:nvPr/>
        </p:nvSpPr>
        <p:spPr>
          <a:xfrm>
            <a:off x="548640" y="6419088"/>
            <a:ext cx="7772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취약점 진단 결과 보고   ·   문서 ID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  <a:r>
              <a:rPr sz="900" b="0" lang="ko-KR" altLang="en-US">
                <a:solidFill>
                  <a:srgbClr val="5B6B7B"/>
                </a:solidFill>
                <a:latin typeface="Noto Sans CJK KR"/>
                <a:ea typeface="Noto Sans CJK KR"/>
                <a:cs typeface="Noto Sans CJK KR"/>
              </a:rPr>
              <a:t>   ·   보안 등급  </a:t>
            </a:r>
            <a:r>
              <a:rPr sz="900" b="0" lang="ko-KR" altLang="en-US">
                <a:solidFill>
                  <a:srgbClr val="0F7C80"/>
                </a:solidFill>
                <a:latin typeface="Noto Sans CJK KR"/>
                <a:ea typeface="Noto Sans CJK KR"/>
                <a:cs typeface="Noto Sans CJK KR"/>
              </a:rPr>
              <a:t>[입력]</a:t>
            </a:r>
          </a:p>
        </p:txBody>
      </p:sp>
      <p:sp>
        <p:nvSpPr>
          <p:cNvPr id="7" name="footer-slide-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ko-KR" sz="900">
                <a:solidFill>
                  <a:srgbClr val="5B6B7B"/>
                </a:solidFill>
                <a:latin typeface="Noto Sans CJK KR"/>
                <a:ea typeface="Noto Sans CJK KR"/>
              </a:rPr>
              <a:t>26</a:t>
            </a:fld>
          </a:p>
        </p:txBody>
      </p:sp>
      <p:graphicFrame>
        <p:nvGraphicFramePr>
          <p:cNvPr id="8" name="glossary-1"/>
          <p:cNvGraphicFramePr>
            <a:graphicFrameLocks noGrp="1"/>
          </p:cNvGraphicFramePr>
          <p:nvPr/>
        </p:nvGraphicFramePr>
        <p:xfrm>
          <a:off x="548640" y="1417320"/>
          <a:ext cx="5410047" cy="332689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3855567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용어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등록 발견사항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대상·경로·파라미터 단위로 기록한 개별 발견 건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고유 취약점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중복 제거 기준에 따라 하나의 조치 단위로 묶은 취약점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중복 그룹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하나의 고유 취약점에 속하는 등록 발견사항의 묶음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기술적 심각도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취약점 자체의 악용 조건과 영향에 따른 등급(긴급/상/중/하/정보)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조치 우선순위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노출도·업무 가치·실제 악용 여부·보완 통제를 반영한 조치 순서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013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CVSS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Common Vulnerability Scoring System. FIRST가 관리하는 취약점 점수 체계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013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CWE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Common Weakness Enumeration. MITRE가 관리하는 소프트웨어 약점 분류 체계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OWASP Top 10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OWASP 재단이 발표하는 웹 애플리케이션 주요 보안 위험 목록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glossary-2"/>
          <p:cNvGraphicFramePr>
            <a:graphicFrameLocks noGrp="1"/>
          </p:cNvGraphicFramePr>
          <p:nvPr/>
        </p:nvGraphicFramePr>
        <p:xfrm>
          <a:off x="6233007" y="1417320"/>
          <a:ext cx="5410047" cy="299770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3855567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용어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정의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493013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RoE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Rules of Engagement. 점검 범위·방법·시간·금지 행위를 정한 수행 규칙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보완 통제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근본 조치 전까지 위험을 낮추기 위해 운영하는 대체 통제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013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위험 수용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승인권자가 조치하지 않기로 결정하고 만료일과 재검토일을 정한 상태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재점검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조치 후 같은 재현 절차로 해결 여부와 정상 동작을 확인하는 점검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패치 수용 기준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조치를 완료로 판단하기 위한 검증 가능한 조건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증거 ID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재현 절차·요청/응답·스크린샷 등 증거 묶음의 식별자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1" lang="ko-KR" altLang="en-US">
                          <a:solidFill>
                            <a:srgbClr val="0B254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마스킹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b="0" lang="ko-KR" altLang="en-US">
                          <a:solidFill>
                            <a:srgbClr val="1F293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민감 정보를 식별할 수 없도록 치환하는 처리</a:t>
                      </a: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D"/>
                      </a:solidFill>
                      <a:prstDash val="soli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VA Template Noto Sans CJK KR">
      <a:majorFont>
        <a:latin typeface="Noto Sans CJK KR"/>
        <a:ea typeface="Noto Sans CJK KR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KR"/>
        <a:ea typeface="Noto Sans CJK KR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취약점 진단 결과 보고 표준 템플릿 (16:9)</dc:title>
  <dc:subject>취약점 진단 결과 보고 공란 표준 템플릿</dc:subject>
  <dc:creator/>
  <cp:keywords>VA-REPORT-TEMPLATE 1.0</cp:keywords>
  <dc:description>공란 템플릿. 고객 배포 전 작성 지침 삭제 및 자리표시자 전량 치환 필요.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